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7" r:id="rId2"/>
  </p:sldIdLst>
  <p:sldSz cx="7562850" cy="1068863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7">
          <p15:clr>
            <a:srgbClr val="A4A3A4"/>
          </p15:clr>
        </p15:guide>
        <p15:guide id="2" pos="238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8"/>
  </p:normalViewPr>
  <p:slideViewPr>
    <p:cSldViewPr snapToGrid="0">
      <p:cViewPr varScale="1">
        <p:scale>
          <a:sx n="73" d="100"/>
          <a:sy n="73" d="100"/>
        </p:scale>
        <p:origin x="3008" y="200"/>
      </p:cViewPr>
      <p:guideLst>
        <p:guide orient="horz" pos="3367"/>
        <p:guide pos="23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6410" y="685800"/>
            <a:ext cx="2425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51C5A74-E1F1-D6DE-A5FF-B639BF4B6B93}"/>
            </a:ext>
          </a:extLst>
        </p:cNvPr>
        <p:cNvGrpSpPr/>
        <p:nvPr/>
      </p:nvGrpSpPr>
      <p:grpSpPr>
        <a:xfrm>
          <a:off x="0" y="0"/>
          <a:ext cx="0" cy="0"/>
          <a:chOff x="0" y="0"/>
          <a:chExt cx="0" cy="0"/>
        </a:xfrm>
      </p:grpSpPr>
      <p:sp>
        <p:nvSpPr>
          <p:cNvPr id="51" name="Google Shape;51;p3:notes">
            <a:extLst>
              <a:ext uri="{FF2B5EF4-FFF2-40B4-BE49-F238E27FC236}">
                <a16:creationId xmlns:a16="http://schemas.microsoft.com/office/drawing/2014/main" id="{23555B89-B93A-C489-F055-D789C6BE32A1}"/>
              </a:ext>
            </a:extLst>
          </p:cNvPr>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3:notes">
            <a:extLst>
              <a:ext uri="{FF2B5EF4-FFF2-40B4-BE49-F238E27FC236}">
                <a16:creationId xmlns:a16="http://schemas.microsoft.com/office/drawing/2014/main" id="{AEC47214-C2C3-CE43-D77C-6E482E3DD1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30777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57783" y="1547391"/>
            <a:ext cx="7046400" cy="4265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57776" y="5889935"/>
            <a:ext cx="7046400" cy="1647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257776" y="4469940"/>
            <a:ext cx="7046400" cy="174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7" name="Google Shape;17;p4"/>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257776" y="924860"/>
            <a:ext cx="7046400" cy="1190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257776" y="2395097"/>
            <a:ext cx="7046400" cy="7100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1" name="Google Shape;21;p5"/>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257776" y="924860"/>
            <a:ext cx="7046400" cy="1190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257776" y="2395097"/>
            <a:ext cx="3307800" cy="7100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6"/>
          <p:cNvSpPr txBox="1">
            <a:spLocks noGrp="1"/>
          </p:cNvSpPr>
          <p:nvPr>
            <p:ph type="body" idx="2"/>
          </p:nvPr>
        </p:nvSpPr>
        <p:spPr>
          <a:xfrm>
            <a:off x="3996401" y="2395097"/>
            <a:ext cx="3307800" cy="7100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 name="Google Shape;26;p6"/>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257776" y="924860"/>
            <a:ext cx="7046400" cy="1190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257776" y="1154659"/>
            <a:ext cx="2322300" cy="1570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257776" y="2887895"/>
            <a:ext cx="2322300" cy="66075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8"/>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05437" y="935511"/>
            <a:ext cx="5266200" cy="8501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3781050" y="-260"/>
            <a:ext cx="3780900" cy="10689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19569" y="2562809"/>
            <a:ext cx="3345300" cy="3080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19569" y="5825407"/>
            <a:ext cx="3345300" cy="256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084973" y="1504787"/>
            <a:ext cx="3173100" cy="7679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10"/>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257776" y="8792066"/>
            <a:ext cx="4961100" cy="12576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257776" y="2298771"/>
            <a:ext cx="7046400" cy="4080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257776" y="6551017"/>
            <a:ext cx="7046400" cy="27033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12"/>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57776" y="924860"/>
            <a:ext cx="7046400" cy="11901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257776" y="2395097"/>
            <a:ext cx="7046400" cy="71001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7006734" y="9691191"/>
            <a:ext cx="453900" cy="81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a:extLst>
            <a:ext uri="{FF2B5EF4-FFF2-40B4-BE49-F238E27FC236}">
              <a16:creationId xmlns:a16="http://schemas.microsoft.com/office/drawing/2014/main" id="{604912D4-CDFA-806A-B473-138940799A69}"/>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DC1312DB-29EB-EE19-7AB3-D00DB85CEF2E}"/>
              </a:ext>
            </a:extLst>
          </p:cNvPr>
          <p:cNvSpPr txBox="1"/>
          <p:nvPr/>
        </p:nvSpPr>
        <p:spPr>
          <a:xfrm>
            <a:off x="4338200" y="2037925"/>
            <a:ext cx="2908800" cy="428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1800" b="0" i="0" u="none" strike="noStrike" kern="0" cap="none" spc="0" normalizeH="0" baseline="0" noProof="0" dirty="0">
                <a:ln>
                  <a:noFill/>
                </a:ln>
                <a:solidFill>
                  <a:srgbClr val="595959"/>
                </a:solidFill>
                <a:effectLst/>
                <a:uLnTx/>
                <a:uFillTx/>
                <a:latin typeface="Arial"/>
                <a:cs typeface="Arial"/>
                <a:sym typeface="Arial"/>
              </a:rPr>
              <a:t>Marcus Thompson</a:t>
            </a:r>
            <a:endParaRPr kumimoji="0" sz="1800" b="0" i="0" u="none" strike="noStrike" kern="0" cap="none" spc="0" normalizeH="0" baseline="0" noProof="0" dirty="0">
              <a:ln>
                <a:noFill/>
              </a:ln>
              <a:solidFill>
                <a:srgbClr val="595959"/>
              </a:solidFill>
              <a:effectLst/>
              <a:uLnTx/>
              <a:uFillTx/>
              <a:latin typeface="Arial"/>
              <a:cs typeface="Arial"/>
              <a:sym typeface="Arial"/>
            </a:endParaRPr>
          </a:p>
        </p:txBody>
      </p:sp>
      <p:sp>
        <p:nvSpPr>
          <p:cNvPr id="55" name="Google Shape;55;p13">
            <a:extLst>
              <a:ext uri="{FF2B5EF4-FFF2-40B4-BE49-F238E27FC236}">
                <a16:creationId xmlns:a16="http://schemas.microsoft.com/office/drawing/2014/main" id="{81B1928E-88B2-DD5B-F409-1F5D54D4F25C}"/>
              </a:ext>
            </a:extLst>
          </p:cNvPr>
          <p:cNvSpPr txBox="1"/>
          <p:nvPr/>
        </p:nvSpPr>
        <p:spPr>
          <a:xfrm>
            <a:off x="4320350" y="2823125"/>
            <a:ext cx="2337600" cy="4284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595959"/>
                </a:solidFill>
                <a:effectLst/>
                <a:uLnTx/>
                <a:uFillTx/>
                <a:latin typeface="Arial"/>
                <a:cs typeface="Arial"/>
                <a:sym typeface="Arial"/>
              </a:rPr>
              <a:t>23</a:t>
            </a:r>
            <a:endParaRPr kumimoji="0" sz="1800" b="0" i="0" u="none" strike="noStrike" kern="0" cap="none" spc="0" normalizeH="0" baseline="0" noProof="0" dirty="0">
              <a:ln>
                <a:noFill/>
              </a:ln>
              <a:solidFill>
                <a:srgbClr val="595959"/>
              </a:solidFill>
              <a:effectLst/>
              <a:uLnTx/>
              <a:uFillTx/>
              <a:latin typeface="Arial"/>
              <a:cs typeface="Arial"/>
              <a:sym typeface="Arial"/>
            </a:endParaRPr>
          </a:p>
        </p:txBody>
      </p:sp>
      <p:sp>
        <p:nvSpPr>
          <p:cNvPr id="56" name="Google Shape;56;p13">
            <a:extLst>
              <a:ext uri="{FF2B5EF4-FFF2-40B4-BE49-F238E27FC236}">
                <a16:creationId xmlns:a16="http://schemas.microsoft.com/office/drawing/2014/main" id="{A1B406BE-EE3A-92EC-9294-0A5560CAF03F}"/>
              </a:ext>
            </a:extLst>
          </p:cNvPr>
          <p:cNvSpPr txBox="1"/>
          <p:nvPr/>
        </p:nvSpPr>
        <p:spPr>
          <a:xfrm>
            <a:off x="3410225" y="4268600"/>
            <a:ext cx="3676200" cy="9279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1800" b="0" i="0" u="none" strike="noStrike" kern="0" cap="none" spc="0" normalizeH="0" baseline="0" noProof="0" dirty="0">
                <a:ln>
                  <a:noFill/>
                </a:ln>
                <a:solidFill>
                  <a:srgbClr val="595959"/>
                </a:solidFill>
                <a:effectLst/>
                <a:uLnTx/>
                <a:uFillTx/>
                <a:latin typeface="Arial"/>
                <a:cs typeface="Arial"/>
                <a:sym typeface="Arial"/>
              </a:rPr>
              <a:t>Apartment in Oshawa (renting, lives with roommates)</a:t>
            </a:r>
            <a:endParaRPr kumimoji="0" sz="1800" b="0" i="0" u="none" strike="noStrike" kern="0" cap="none" spc="0" normalizeH="0" baseline="0" noProof="0" dirty="0">
              <a:ln>
                <a:noFill/>
              </a:ln>
              <a:solidFill>
                <a:srgbClr val="595959"/>
              </a:solidFill>
              <a:effectLst/>
              <a:uLnTx/>
              <a:uFillTx/>
              <a:latin typeface="Arial"/>
              <a:cs typeface="Arial"/>
              <a:sym typeface="Arial"/>
            </a:endParaRPr>
          </a:p>
        </p:txBody>
      </p:sp>
      <p:sp>
        <p:nvSpPr>
          <p:cNvPr id="57" name="Google Shape;57;p13">
            <a:extLst>
              <a:ext uri="{FF2B5EF4-FFF2-40B4-BE49-F238E27FC236}">
                <a16:creationId xmlns:a16="http://schemas.microsoft.com/office/drawing/2014/main" id="{308F3012-C875-68CF-C7DB-16886474173D}"/>
              </a:ext>
            </a:extLst>
          </p:cNvPr>
          <p:cNvSpPr txBox="1"/>
          <p:nvPr/>
        </p:nvSpPr>
        <p:spPr>
          <a:xfrm>
            <a:off x="1536475" y="5464225"/>
            <a:ext cx="5710524" cy="1873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1800" b="0" i="0" u="none" strike="noStrike" kern="0" cap="none" spc="0" normalizeH="0" baseline="0" noProof="0" dirty="0">
                <a:ln>
                  <a:noFill/>
                </a:ln>
                <a:solidFill>
                  <a:srgbClr val="595959"/>
                </a:solidFill>
                <a:effectLst/>
                <a:uLnTx/>
                <a:uFillTx/>
                <a:latin typeface="Arial"/>
                <a:cs typeface="Arial"/>
                <a:sym typeface="Arial"/>
              </a:rPr>
              <a:t>Marcus is a Canadian-born recent graduate with a Bachelor’s in Business Management. He graduated last spring, worked part-time retail during school, but those entry-level corporate jobs he expected post-grad don’t seem to exist anymore. He’s seen AI tools do tasks he thought would be his first job duties</a:t>
            </a:r>
            <a:endParaRPr kumimoji="0" sz="1800" b="0" i="0" u="none" strike="noStrike" kern="0" cap="none" spc="0" normalizeH="0" baseline="0" noProof="0" dirty="0">
              <a:ln>
                <a:noFill/>
              </a:ln>
              <a:solidFill>
                <a:srgbClr val="595959"/>
              </a:solidFill>
              <a:effectLst/>
              <a:uLnTx/>
              <a:uFillTx/>
              <a:latin typeface="Arial"/>
              <a:cs typeface="Arial"/>
              <a:sym typeface="Arial"/>
            </a:endParaRPr>
          </a:p>
        </p:txBody>
      </p:sp>
      <p:sp>
        <p:nvSpPr>
          <p:cNvPr id="58" name="Google Shape;58;p13">
            <a:extLst>
              <a:ext uri="{FF2B5EF4-FFF2-40B4-BE49-F238E27FC236}">
                <a16:creationId xmlns:a16="http://schemas.microsoft.com/office/drawing/2014/main" id="{9197341F-2814-41AD-BE18-B17C49246446}"/>
              </a:ext>
            </a:extLst>
          </p:cNvPr>
          <p:cNvSpPr txBox="1"/>
          <p:nvPr/>
        </p:nvSpPr>
        <p:spPr>
          <a:xfrm>
            <a:off x="1536474" y="7962575"/>
            <a:ext cx="5710525" cy="2183748"/>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1800" b="0" i="0" u="none" strike="noStrike" kern="0" cap="none" spc="0" normalizeH="0" baseline="0" noProof="0" dirty="0">
                <a:ln>
                  <a:noFill/>
                </a:ln>
                <a:solidFill>
                  <a:srgbClr val="595959"/>
                </a:solidFill>
                <a:effectLst/>
                <a:uLnTx/>
                <a:uFillTx/>
                <a:latin typeface="Arial"/>
                <a:cs typeface="Arial"/>
                <a:sym typeface="Arial"/>
              </a:rPr>
              <a:t>Marcus needs entry-level positions that actually hire entry-level workers, not “2-3 years experience required” postings. He’s desperate for skills training that makes him competitive against AI automation. Needs mentorship on how to position himself as someone who can leverage AI rather than compete with it. Also needs affordable upskilling options </a:t>
            </a:r>
            <a:endParaRPr kumimoji="0" sz="1800" b="0" i="0" u="none" strike="noStrike" kern="0" cap="none" spc="0" normalizeH="0" baseline="0" noProof="0" dirty="0">
              <a:ln>
                <a:noFill/>
              </a:ln>
              <a:solidFill>
                <a:srgbClr val="595959"/>
              </a:solidFill>
              <a:effectLst/>
              <a:uLnTx/>
              <a:uFillTx/>
              <a:latin typeface="Arial"/>
              <a:cs typeface="Arial"/>
              <a:sym typeface="Arial"/>
            </a:endParaRPr>
          </a:p>
        </p:txBody>
      </p:sp>
    </p:spTree>
    <p:extLst>
      <p:ext uri="{BB962C8B-B14F-4D97-AF65-F5344CB8AC3E}">
        <p14:creationId xmlns:p14="http://schemas.microsoft.com/office/powerpoint/2010/main" val="320433264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Words>
  <Application>Microsoft Macintosh PowerPoint</Application>
  <PresentationFormat>Custom</PresentationFormat>
  <Paragraphs>5</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Vitor Hugo De Souza Messias</cp:lastModifiedBy>
  <cp:revision>3</cp:revision>
  <dcterms:modified xsi:type="dcterms:W3CDTF">2025-11-12T21:17:52Z</dcterms:modified>
</cp:coreProperties>
</file>